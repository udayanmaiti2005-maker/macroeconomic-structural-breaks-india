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DCE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15000"/>
                <a:lumOff val="85000"/>
              </a:schemeClr>
            </a:gs>
            <a:gs pos="94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spi.gov.in/back-series-national-accounts-base-2011-12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spi.gov.in/back-series-national-accounts-base-2011-12" TargetMode="External"/><Relationship Id="rId2" Type="http://schemas.openxmlformats.org/officeDocument/2006/relationships/hyperlink" Target="https://www.jstor.org/stable/4419790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hyperlink" Target="https://colab.research.google.com/drive/1Nf1efD7HPl4oO8sg58ZgIH4BRyigykDG?usp=sharing" TargetMode="External"/><Relationship Id="rId4" Type="http://schemas.openxmlformats.org/officeDocument/2006/relationships/hyperlink" Target="file:///C:\Users\User\Desktop\Indian%20Eco%20assignment\Python%20Analysis\Indian_Eco_Paper_Replication.ipynb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95437" y="1410890"/>
            <a:ext cx="9001125" cy="23569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480"/>
              </a:lnSpc>
            </a:pPr>
            <a:r>
              <a:rPr sz="5400" b="1" i="0" u="none" dirty="0">
                <a:solidFill>
                  <a:srgbClr val="0F172A"/>
                </a:solidFill>
                <a:latin typeface="Poppins"/>
              </a:rPr>
              <a:t>Understanding Economic Growth in India</a:t>
            </a:r>
            <a:endParaRPr lang="en-US" sz="5400" b="1" i="0" u="none" dirty="0">
              <a:solidFill>
                <a:srgbClr val="0F172A"/>
              </a:solidFill>
              <a:latin typeface="Poppins"/>
            </a:endParaRPr>
          </a:p>
          <a:p>
            <a:pPr algn="ctr">
              <a:lnSpc>
                <a:spcPts val="6480"/>
              </a:lnSpc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Author(s):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Pulapre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Balakrishnan and M. Parameswaran</a:t>
            </a:r>
            <a:endParaRPr b="1" i="0" u="none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image.png">
            <a:extLst>
              <a:ext uri="{FF2B5EF4-FFF2-40B4-BE49-F238E27FC236}">
                <a16:creationId xmlns:a16="http://schemas.microsoft.com/office/drawing/2014/main" id="{C23CA9DD-F471-605D-8843-5A83C4506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039" y="1403376"/>
            <a:ext cx="5238750" cy="41495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571500" y="1916906"/>
            <a:ext cx="55006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>
                <a:solidFill>
                  <a:srgbClr val="1D4ED8"/>
                </a:solidFill>
                <a:latin typeface="Poppins SemiBold"/>
              </a:rPr>
              <a:t>Objective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2497931"/>
            <a:ext cx="4953000" cy="62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475569"/>
                </a:solidFill>
                <a:latin typeface="Lato"/>
              </a:rPr>
              <a:t>Identify distinct phases of macroeconomic growth since 1950.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" y="3358753"/>
            <a:ext cx="4953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475569"/>
                </a:solidFill>
                <a:latin typeface="Lato"/>
              </a:rPr>
              <a:t>Avoid arbitrary policy dates (like the 1991 liberalization) to find the true turning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4219575"/>
            <a:ext cx="4953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Lato"/>
              </a:rPr>
              <a:t>Decompose growth to test the hypothesis that the transition was primarily </a:t>
            </a:r>
            <a:r>
              <a:rPr sz="1650" b="1" i="0" u="none">
                <a:solidFill>
                  <a:srgbClr val="475569"/>
                </a:solidFill>
                <a:latin typeface="Lato"/>
              </a:rPr>
              <a:t>services-led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5080396"/>
            <a:ext cx="4953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475569"/>
                </a:solidFill>
                <a:latin typeface="Lato"/>
              </a:rPr>
              <a:t>Original Data: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 NAS GDP data (1950–51 to 2003–04), constant 1993–94 prices.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1E293B"/>
                </a:solidFill>
                <a:latin typeface="Poppins"/>
              </a:rPr>
              <a:t>Core Paper Overview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4519"/>
            <a:ext cx="952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485341"/>
            <a:ext cx="952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346163"/>
            <a:ext cx="9525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206984"/>
            <a:ext cx="95250" cy="152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0AD70E-9A2D-100A-0B3C-15718A307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008" y="1714350"/>
            <a:ext cx="4691062" cy="34926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image.png">
            <a:extLst>
              <a:ext uri="{FF2B5EF4-FFF2-40B4-BE49-F238E27FC236}">
                <a16:creationId xmlns:a16="http://schemas.microsoft.com/office/drawing/2014/main" id="{5F48F1F6-5216-C7A8-F3BE-705554A63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7696" y="1668838"/>
            <a:ext cx="3133725" cy="41495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106C52E6-113B-817E-E9B4-0094B5B58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4598" y="1668838"/>
            <a:ext cx="3133725" cy="41495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78236565-260F-EC69-5C71-42C6E1D00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68838"/>
            <a:ext cx="3133725" cy="41495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66775" y="2867322"/>
            <a:ext cx="2980372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>
                <a:solidFill>
                  <a:srgbClr val="1D4ED8"/>
                </a:solidFill>
                <a:latin typeface="Poppins SemiBold"/>
              </a:rPr>
              <a:t>Structural Break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3677" y="3743621"/>
            <a:ext cx="2838450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475569"/>
                </a:solidFill>
                <a:latin typeface="Lato"/>
              </a:rPr>
              <a:t>Using the Bai-Perron methodology, the authors identified a major structural break in </a:t>
            </a:r>
            <a:r>
              <a:rPr sz="1650" b="1" i="0" u="none" dirty="0">
                <a:solidFill>
                  <a:srgbClr val="475569"/>
                </a:solidFill>
                <a:latin typeface="Lato"/>
              </a:rPr>
              <a:t>1978-79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, ending the 3.5% "stagnant growth" era.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6775" y="2867322"/>
            <a:ext cx="2980372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>
                <a:solidFill>
                  <a:srgbClr val="1D4ED8"/>
                </a:solidFill>
                <a:latin typeface="Poppins SemiBold"/>
              </a:rPr>
              <a:t>Growth Decomposition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743621"/>
            <a:ext cx="2838450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475569"/>
                </a:solidFill>
                <a:latin typeface="Lato"/>
              </a:rPr>
              <a:t>Data decomposition revealed that the Tertiary (Services) sector contributed the vast majority of the increased economic growth.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6775" y="2867322"/>
            <a:ext cx="2980372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>
                <a:solidFill>
                  <a:srgbClr val="1D4ED8"/>
                </a:solidFill>
                <a:latin typeface="Poppins SemiBold"/>
              </a:rPr>
              <a:t>Econometric Regression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743621"/>
            <a:ext cx="2838450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475569"/>
                </a:solidFill>
                <a:latin typeface="Lato"/>
              </a:rPr>
              <a:t>OLS/GMM regressions confirmed that only the lagged growth of the Tertiary sector had a statistically significant, positive impact on overall GDP.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2191047"/>
            <a:ext cx="400050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775" y="2191047"/>
            <a:ext cx="304800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775" y="2191047"/>
            <a:ext cx="40005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1E293B"/>
                </a:solidFill>
                <a:latin typeface="Poppins"/>
              </a:rPr>
              <a:t>Original Methodology &amp; Findings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BFB4FDA8-FB5B-1740-768B-21DA80E87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2225" y="2238186"/>
            <a:ext cx="5238750" cy="37201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AE49C84B-6007-EBF5-8B37-4A4A6D7C48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43" y="2238187"/>
            <a:ext cx="5238750" cy="37201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571500" y="1478756"/>
            <a:ext cx="11049000" cy="62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475569"/>
                </a:solidFill>
                <a:latin typeface="Lato"/>
              </a:rPr>
              <a:t>To replicate the study, </a:t>
            </a:r>
            <a:r>
              <a:rPr lang="en-US" sz="1650" b="0" i="0" u="none" dirty="0">
                <a:solidFill>
                  <a:srgbClr val="475569"/>
                </a:solidFill>
                <a:latin typeface="Lato"/>
              </a:rPr>
              <a:t>I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extracted modern </a:t>
            </a:r>
            <a:r>
              <a:rPr sz="1650" b="1" i="0" u="none" dirty="0">
                <a:solidFill>
                  <a:srgbClr val="475569"/>
                </a:solidFill>
                <a:latin typeface="Lato"/>
                <a:hlinkClick r:id="rId3"/>
              </a:rPr>
              <a:t>MOSPI Back-series</a:t>
            </a:r>
            <a:r>
              <a:rPr sz="1650" b="0" i="0" u="none" dirty="0">
                <a:solidFill>
                  <a:srgbClr val="475569"/>
                </a:solidFill>
                <a:latin typeface="Lato"/>
                <a:hlinkClick r:id="rId3"/>
              </a:rPr>
              <a:t> data (GVA at constant 2011-12 prices) 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matching the 1950 to 2004 timeframe.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2617164"/>
            <a:ext cx="468058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 dirty="0">
                <a:solidFill>
                  <a:srgbClr val="1D4ED8"/>
                </a:solidFill>
                <a:latin typeface="Poppins SemiBold"/>
              </a:rPr>
              <a:t>Variable Aggregation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2275" y="2628713"/>
            <a:ext cx="468058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>
                <a:solidFill>
                  <a:srgbClr val="1D4ED8"/>
                </a:solidFill>
                <a:latin typeface="Poppins SemiBold"/>
              </a:rPr>
              <a:t>Mathematical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3209738"/>
            <a:ext cx="445770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Lato"/>
              </a:rPr>
              <a:t>All aggregated sectoral-series were converted into annual percentage growth rates via </a:t>
            </a:r>
            <a:r>
              <a:rPr sz="1650" b="1" i="0" u="none">
                <a:solidFill>
                  <a:srgbClr val="475569"/>
                </a:solidFill>
                <a:latin typeface="Lato"/>
              </a:rPr>
              <a:t>log-differencing</a:t>
            </a:r>
            <a:r>
              <a:rPr sz="1650" b="0" i="0" u="none">
                <a:solidFill>
                  <a:srgbClr val="475569"/>
                </a:solidFill>
                <a:latin typeface="Lato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4358095"/>
            <a:ext cx="44577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1" u="none">
                <a:solidFill>
                  <a:srgbClr val="64748B"/>
                </a:solidFill>
                <a:latin typeface="Lato"/>
              </a:rPr>
              <a:t>This normalizes the data for time-series analysis and measures continuous compounding.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775" y="3209738"/>
            <a:ext cx="4171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475569"/>
                </a:solidFill>
                <a:latin typeface="Lato"/>
              </a:rPr>
              <a:t>Primary (Pt):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Agriculture, Forestry, Fishing, Mining &amp; Quarrying.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75" y="4070560"/>
            <a:ext cx="4171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475569"/>
                </a:solidFill>
                <a:latin typeface="Lato"/>
              </a:rPr>
              <a:t>Secondary (St):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Manufacturing, Construction, Electricity/Gas/Water.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775" y="4931381"/>
            <a:ext cx="417195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475569"/>
                </a:solidFill>
                <a:latin typeface="Lato"/>
              </a:rPr>
              <a:t>Tertiary (Tt):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Trade, Transport, Financial Services, Real Estate, Public Admin, etc.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488463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1E293B"/>
                </a:solidFill>
                <a:latin typeface="Poppins"/>
              </a:rPr>
              <a:t>Empirical Replication: Data &amp; Variables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3296990"/>
            <a:ext cx="9525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4157812"/>
            <a:ext cx="952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5018633"/>
            <a:ext cx="95250" cy="152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B2C48F56-03D9-DDB9-8D06-7AD3953E9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65" y="2671740"/>
            <a:ext cx="11601450" cy="38077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59A93F-E992-6BE4-606F-88715B0D223F}"/>
              </a:ext>
            </a:extLst>
          </p:cNvPr>
          <p:cNvSpPr txBox="1"/>
          <p:nvPr/>
        </p:nvSpPr>
        <p:spPr>
          <a:xfrm>
            <a:off x="571500" y="478631"/>
            <a:ext cx="1160145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300" b="1" i="0" u="none" dirty="0">
                <a:solidFill>
                  <a:srgbClr val="1E293B"/>
                </a:solidFill>
                <a:latin typeface="Poppins"/>
              </a:rPr>
              <a:t>The Bai-Perron Methodology</a:t>
            </a:r>
            <a:endParaRPr sz="3300" b="1" i="0" u="none" dirty="0">
              <a:solidFill>
                <a:srgbClr val="1E293B"/>
              </a:solidFill>
              <a:latin typeface="Poppin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0B52D0-9DBD-CCB9-2D99-F53CFC0FB572}"/>
                  </a:ext>
                </a:extLst>
              </p:cNvPr>
              <p:cNvSpPr txBox="1"/>
              <p:nvPr/>
            </p:nvSpPr>
            <p:spPr>
              <a:xfrm>
                <a:off x="696634" y="2895902"/>
                <a:ext cx="11087939" cy="34540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lvl="0">
                  <a:defRPr b="1">
                    <a:solidFill>
                      <a:srgbClr val="475569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lvl1pPr>
                <a:lvl2pPr lvl="1">
                  <a:defRPr sz="1500" b="1">
                    <a:solidFill>
                      <a:srgbClr val="475569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lvl2pPr>
              </a:lstStyle>
              <a:p>
                <a:r>
                  <a:rPr lang="en-IN" dirty="0"/>
                  <a:t>The Core Model: The algorithm relies on a log-linear exponential growth equation: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𝑙𝑛</m:t>
                    </m:r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𝑙𝑛</m:t>
                    </m:r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/>
                  <a:t>represents the log of GDP,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/>
                  <a:t>is the intercept (starting level),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dirty="0"/>
                  <a:t>is the growth trend (slope) for a specific economic regime.</a:t>
                </a:r>
              </a:p>
              <a:p>
                <a:pPr lvl="1"/>
                <a:endParaRPr lang="en-IN" dirty="0"/>
              </a:p>
              <a:p>
                <a:r>
                  <a:rPr lang="en-IN" dirty="0"/>
                  <a:t>The Optimization Goal: It scans the timeline to find exact break dates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IN" dirty="0"/>
                  <a:t>) by minimizing the Sum of Squared Residuals (SSR).</a:t>
                </a:r>
              </a:p>
              <a:p>
                <a:pPr lvl="1"/>
                <a:r>
                  <a:rPr lang="en-IN" dirty="0"/>
                  <a:t>The formula it minimizes to find the tightest data fit is: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+1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IN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sup>
                          <m:e>
                            <m:sSup>
                              <m:sSup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IN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𝑙𝑛</m:t>
                                    </m:r>
                                    <m:sSub>
                                      <m:sSubPr>
                                        <m:ctrlP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  <m:sub>
                                        <m: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IN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IN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r>
                  <a:rPr lang="en-IN" dirty="0"/>
                  <a:t>.</a:t>
                </a:r>
              </a:p>
              <a:p>
                <a:pPr lvl="1"/>
                <a:endParaRPr lang="en-IN" dirty="0"/>
              </a:p>
              <a:p>
                <a:r>
                  <a:rPr lang="en-IN" dirty="0"/>
                  <a:t>Algorithmic Constraints:</a:t>
                </a:r>
              </a:p>
              <a:p>
                <a:pPr lvl="1"/>
                <a:r>
                  <a:rPr lang="en-IN" dirty="0"/>
                  <a:t>Minimum Length (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lang="en-IN" dirty="0"/>
                  <a:t>): Forces each economic phase to be at least 8 years long to capture long-run macroeconomic shifts rather than short-term anomalies.</a:t>
                </a:r>
              </a:p>
              <a:p>
                <a:pPr lvl="1"/>
                <a:r>
                  <a:rPr lang="en-IN" dirty="0"/>
                  <a:t>Preventing Overfitting (BIC): Uses the Bayesian Information Criterion (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𝐵𝐼𝐶</m:t>
                    </m:r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ˆ"/>
                            <m:ctrlPr>
                              <a:rPr lang="en-IN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IN">
                        <a:latin typeface="Cambria Math" panose="02040503050406030204" pitchFamily="18" charset="0"/>
                      </a:rPr>
                      <m:t>𝑙𝑛</m:t>
                    </m:r>
                    <m:d>
                      <m:dPr>
                        <m:ctrlPr>
                          <a:rPr lang="en-IN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IN"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IN" dirty="0"/>
                  <a:t>) to apply a mathematical penalty for every additional break added, ensuring the simplest and most accurate model.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20B52D0-9DBD-CCB9-2D99-F53CFC0FB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34" y="2895902"/>
                <a:ext cx="11087939" cy="3454087"/>
              </a:xfrm>
              <a:prstGeom prst="rect">
                <a:avLst/>
              </a:prstGeom>
              <a:blipFill>
                <a:blip r:embed="rId3"/>
                <a:stretch>
                  <a:fillRect l="-440" t="-1058" r="-110" b="-10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AA02193C-37D0-A390-AF29-59D43E1D8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426" y="2972532"/>
            <a:ext cx="95250" cy="152400"/>
          </a:xfrm>
          <a:prstGeom prst="rect">
            <a:avLst/>
          </a:prstGeom>
        </p:spPr>
      </p:pic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E54F7163-D9C8-01FE-3405-8565843083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426" y="3982847"/>
            <a:ext cx="95250" cy="152400"/>
          </a:xfrm>
          <a:prstGeom prst="rect">
            <a:avLst/>
          </a:prstGeom>
        </p:spPr>
      </p:pic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9E0EEC3C-95E3-FBF8-F06E-40DBA90CA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657" y="5154952"/>
            <a:ext cx="95250" cy="152400"/>
          </a:xfrm>
          <a:prstGeom prst="rect">
            <a:avLst/>
          </a:prstGeom>
        </p:spPr>
      </p:pic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957297E6-9D2B-BA6A-593B-3889DA883E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565" y="1407595"/>
            <a:ext cx="3663701" cy="709612"/>
          </a:xfrm>
          <a:prstGeom prst="rect">
            <a:avLst/>
          </a:prstGeom>
        </p:spPr>
      </p:pic>
      <p:pic>
        <p:nvPicPr>
          <p:cNvPr id="15" name="Picture 14" descr="image.png">
            <a:extLst>
              <a:ext uri="{FF2B5EF4-FFF2-40B4-BE49-F238E27FC236}">
                <a16:creationId xmlns:a16="http://schemas.microsoft.com/office/drawing/2014/main" id="{F8C091AB-E274-9518-6E8C-00F6E46CE2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564" y="1672735"/>
            <a:ext cx="2901701" cy="26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606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3660" y="2109927"/>
            <a:ext cx="55006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 dirty="0">
                <a:solidFill>
                  <a:srgbClr val="1D4ED8"/>
                </a:solidFill>
                <a:latin typeface="Poppins SemiBold"/>
              </a:rPr>
              <a:t>Bai-Perron Dynamic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660" y="2690952"/>
            <a:ext cx="5238750" cy="961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475569"/>
                </a:solidFill>
                <a:latin typeface="Lato"/>
              </a:rPr>
              <a:t>Applying the Bai-Perron algorithm with a strict minimum segment constraint of 8 years (h=8) successfully identified a definitive </a:t>
            </a:r>
            <a:r>
              <a:rPr sz="1650" i="0" u="none" dirty="0">
                <a:solidFill>
                  <a:srgbClr val="475569"/>
                </a:solidFill>
                <a:latin typeface="Lato"/>
              </a:rPr>
              <a:t>structural break in </a:t>
            </a:r>
            <a:r>
              <a:rPr sz="1650" b="1" i="0" u="none" dirty="0">
                <a:solidFill>
                  <a:srgbClr val="475569"/>
                </a:solidFill>
                <a:latin typeface="Lato"/>
              </a:rPr>
              <a:t>1981.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506" y="471420"/>
            <a:ext cx="5619904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1E293B"/>
                </a:solidFill>
                <a:latin typeface="Poppins"/>
              </a:rPr>
              <a:t>Structural Break Analysis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91D593E9-12FE-4BC3-F4A6-A88DB1D1A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021" y="599569"/>
            <a:ext cx="5797192" cy="36919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0754F6-3247-397D-6A61-CF1C2D5554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655" y="725336"/>
            <a:ext cx="5500686" cy="3476257"/>
          </a:xfrm>
          <a:prstGeom prst="rect">
            <a:avLst/>
          </a:prstGeom>
        </p:spPr>
      </p:pic>
      <p:pic>
        <p:nvPicPr>
          <p:cNvPr id="31" name="Picture 30" descr="image.png">
            <a:extLst>
              <a:ext uri="{FF2B5EF4-FFF2-40B4-BE49-F238E27FC236}">
                <a16:creationId xmlns:a16="http://schemas.microsoft.com/office/drawing/2014/main" id="{64768903-9FC2-9E0B-6FE3-A3CB40FE5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60" y="4626731"/>
            <a:ext cx="5172889" cy="20137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3" name="Picture 32" descr="image.png">
            <a:extLst>
              <a:ext uri="{FF2B5EF4-FFF2-40B4-BE49-F238E27FC236}">
                <a16:creationId xmlns:a16="http://schemas.microsoft.com/office/drawing/2014/main" id="{178934FE-CE8B-5B5B-4EC2-E07ADDAB6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7053" y="4626732"/>
            <a:ext cx="5172889" cy="20137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BB10A738-CDAA-A60E-5667-3DF37462B9DF}"/>
              </a:ext>
            </a:extLst>
          </p:cNvPr>
          <p:cNvSpPr txBox="1"/>
          <p:nvPr/>
        </p:nvSpPr>
        <p:spPr>
          <a:xfrm>
            <a:off x="629072" y="4706181"/>
            <a:ext cx="475155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 u="none" dirty="0">
                <a:solidFill>
                  <a:srgbClr val="0056B3"/>
                </a:solidFill>
                <a:latin typeface="Poppins SemiBold"/>
              </a:rPr>
              <a:t>Pre-1981: </a:t>
            </a:r>
            <a:r>
              <a:rPr lang="en-US" sz="2400" dirty="0">
                <a:solidFill>
                  <a:srgbClr val="0056B3"/>
                </a:solidFill>
                <a:latin typeface="Poppins SemiBold"/>
              </a:rPr>
              <a:t>Slow </a:t>
            </a:r>
            <a:r>
              <a:rPr sz="2400" b="0" i="0" u="none" dirty="0">
                <a:solidFill>
                  <a:srgbClr val="0056B3"/>
                </a:solidFill>
                <a:latin typeface="Poppins SemiBold"/>
              </a:rPr>
              <a:t>Growth Rate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E127E8E-AA88-B0BF-B5DD-847EA468A6D4}"/>
              </a:ext>
            </a:extLst>
          </p:cNvPr>
          <p:cNvSpPr txBox="1"/>
          <p:nvPr/>
        </p:nvSpPr>
        <p:spPr>
          <a:xfrm>
            <a:off x="629073" y="5152206"/>
            <a:ext cx="3787992" cy="884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400" b="0" i="0" u="none" dirty="0">
                <a:solidFill>
                  <a:srgbClr val="475569"/>
                </a:solidFill>
                <a:latin typeface="Lato"/>
              </a:rPr>
              <a:t>Characterized by a stagnant macroeconomic environment, the Indian economy experienced a sluggish historical growth trend.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8BF9B0-5A46-5D56-B36F-174CD664F25B}"/>
              </a:ext>
            </a:extLst>
          </p:cNvPr>
          <p:cNvSpPr txBox="1"/>
          <p:nvPr/>
        </p:nvSpPr>
        <p:spPr>
          <a:xfrm>
            <a:off x="629072" y="5988768"/>
            <a:ext cx="3929326" cy="543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2600" b="1" i="0" u="none" dirty="0">
                <a:solidFill>
                  <a:srgbClr val="FFC000"/>
                </a:solidFill>
                <a:latin typeface="Lato"/>
              </a:rPr>
              <a:t>3.5</a:t>
            </a:r>
            <a:r>
              <a:rPr lang="en-US" sz="2600" b="1" i="0" u="none" dirty="0">
                <a:solidFill>
                  <a:srgbClr val="FFC000"/>
                </a:solidFill>
                <a:latin typeface="Lato"/>
              </a:rPr>
              <a:t>0</a:t>
            </a:r>
            <a:r>
              <a:rPr sz="2600" b="1" i="0" u="none" dirty="0">
                <a:solidFill>
                  <a:srgbClr val="FFC000"/>
                </a:solidFill>
                <a:latin typeface="Lato"/>
              </a:rPr>
              <a:t>% </a:t>
            </a:r>
            <a:r>
              <a:rPr sz="2600" b="0" i="0" u="none" dirty="0">
                <a:solidFill>
                  <a:srgbClr val="64748B"/>
                </a:solidFill>
                <a:latin typeface="Lato"/>
              </a:rPr>
              <a:t>Average Growth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EB6E2A-886A-F714-8FDF-921E38F1EF26}"/>
              </a:ext>
            </a:extLst>
          </p:cNvPr>
          <p:cNvSpPr txBox="1"/>
          <p:nvPr/>
        </p:nvSpPr>
        <p:spPr>
          <a:xfrm>
            <a:off x="6526200" y="4716528"/>
            <a:ext cx="4958329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 u="none" dirty="0">
                <a:solidFill>
                  <a:srgbClr val="0056B3"/>
                </a:solidFill>
                <a:latin typeface="Poppins SemiBold"/>
              </a:rPr>
              <a:t>Post-1981: Accelerated Expansion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B704E4-02B4-0076-5197-5FDC05CFB76A}"/>
              </a:ext>
            </a:extLst>
          </p:cNvPr>
          <p:cNvSpPr txBox="1"/>
          <p:nvPr/>
        </p:nvSpPr>
        <p:spPr>
          <a:xfrm>
            <a:off x="6526200" y="5171499"/>
            <a:ext cx="4054569" cy="8791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400" b="0" i="0" u="none" dirty="0">
                <a:solidFill>
                  <a:srgbClr val="475569"/>
                </a:solidFill>
                <a:latin typeface="Lato"/>
              </a:rPr>
              <a:t>A definitive structural break shifted the economy into a high-gear trajectory, independently establishing a new growth baseline.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21DB134-0384-D081-CA60-96957E940109}"/>
              </a:ext>
            </a:extLst>
          </p:cNvPr>
          <p:cNvSpPr txBox="1"/>
          <p:nvPr/>
        </p:nvSpPr>
        <p:spPr>
          <a:xfrm>
            <a:off x="6526200" y="5988769"/>
            <a:ext cx="4054569" cy="543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2600" b="1" i="0" u="none" dirty="0">
                <a:solidFill>
                  <a:srgbClr val="00B050"/>
                </a:solidFill>
                <a:latin typeface="Lato"/>
              </a:rPr>
              <a:t>5.29% </a:t>
            </a:r>
            <a:r>
              <a:rPr sz="2600" b="0" i="0" u="none" dirty="0">
                <a:solidFill>
                  <a:srgbClr val="64748B"/>
                </a:solidFill>
                <a:latin typeface="Lato"/>
              </a:rPr>
              <a:t>Average Growth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image.png">
            <a:extLst>
              <a:ext uri="{FF2B5EF4-FFF2-40B4-BE49-F238E27FC236}">
                <a16:creationId xmlns:a16="http://schemas.microsoft.com/office/drawing/2014/main" id="{E95CF25B-2EAA-C6E6-2FCA-B9833E25C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581" y="2351308"/>
            <a:ext cx="5797192" cy="36919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sp>
        <p:nvSpPr>
          <p:cNvPr id="5" name="TextBox 4"/>
          <p:cNvSpPr txBox="1"/>
          <p:nvPr/>
        </p:nvSpPr>
        <p:spPr>
          <a:xfrm>
            <a:off x="571500" y="1575494"/>
            <a:ext cx="11049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Lato"/>
              </a:rPr>
              <a:t>A shift-share decomposition across the 1981 threshold determines exactly where the accelerated growth originated.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8747" y="3019549"/>
            <a:ext cx="468058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 dirty="0">
                <a:solidFill>
                  <a:srgbClr val="1D4ED8"/>
                </a:solidFill>
                <a:latin typeface="Poppins SemiBold"/>
              </a:rPr>
              <a:t>The Services Domination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8747" y="3600574"/>
            <a:ext cx="4457700" cy="1628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475569"/>
                </a:solidFill>
                <a:latin typeface="Lato"/>
              </a:rPr>
              <a:t>The mathematical outcome confirms the original </a:t>
            </a:r>
            <a:r>
              <a:rPr lang="en-US" sz="1650" dirty="0">
                <a:solidFill>
                  <a:srgbClr val="475569"/>
                </a:solidFill>
                <a:latin typeface="Lato"/>
              </a:rPr>
              <a:t>question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: The </a:t>
            </a:r>
            <a:r>
              <a:rPr sz="1650" b="1" i="0" u="none" dirty="0">
                <a:solidFill>
                  <a:srgbClr val="475569"/>
                </a:solidFill>
                <a:latin typeface="Lato"/>
              </a:rPr>
              <a:t>Tertiary sector 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accounted for a massive 84% of the aggregate growth acceleration, dominating the economic transition.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1E293B"/>
                </a:solidFill>
                <a:latin typeface="Poppins"/>
              </a:rPr>
              <a:t>Phase 2: Sectoral Decomposition Analysis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A15CE8-0131-F58F-6456-1CB3DE6CEA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13" y="2613968"/>
            <a:ext cx="5690728" cy="31724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34034" y="2714773"/>
            <a:ext cx="5500687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 dirty="0">
                <a:solidFill>
                  <a:srgbClr val="1D4ED8"/>
                </a:solidFill>
                <a:latin typeface="Poppins SemiBold"/>
              </a:rPr>
              <a:t>Testing Sectoral Causality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34034" y="3295798"/>
            <a:ext cx="52387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475569"/>
                </a:solidFill>
                <a:latin typeface="Lato"/>
              </a:rPr>
              <a:t>An Ordinary Least Squares (OLS) model was estimated, regressing current aggregate GDP growth on lagged sector growth rates.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34034" y="4450083"/>
            <a:ext cx="5238750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1800" b="1" i="0" u="none">
                <a:solidFill>
                  <a:srgbClr val="1E293B"/>
                </a:solidFill>
                <a:latin typeface="Lato"/>
              </a:rPr>
              <a:t>Tertiary Sector Coefficient (β) = 0.5111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4034" y="4958628"/>
            <a:ext cx="52387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475569"/>
                </a:solidFill>
                <a:latin typeface="Lato"/>
              </a:rPr>
              <a:t>The regression confirms that the lagged Tertiary sector represents the </a:t>
            </a:r>
            <a:r>
              <a:rPr sz="1650" b="1" i="0" u="none" dirty="0">
                <a:solidFill>
                  <a:srgbClr val="475569"/>
                </a:solidFill>
                <a:latin typeface="Lato"/>
              </a:rPr>
              <a:t>sole positive sectoral driver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, overriding manufacturing-led theories of growth.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552450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1E293B"/>
                </a:solidFill>
                <a:latin typeface="Poppins"/>
              </a:rPr>
              <a:t>Econometric Regression</a:t>
            </a:r>
          </a:p>
        </p:txBody>
      </p:sp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F8F1B257-9B5D-ED2D-0088-4F2A71D67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0" y="2350800"/>
            <a:ext cx="5797192" cy="36919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62F3CA-0477-9839-9AEB-6CF91B5EF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208" y="2431107"/>
            <a:ext cx="5605176" cy="35398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image.png">
            <a:extLst>
              <a:ext uri="{FF2B5EF4-FFF2-40B4-BE49-F238E27FC236}">
                <a16:creationId xmlns:a16="http://schemas.microsoft.com/office/drawing/2014/main" id="{3D002015-2891-FAD2-CC89-471C7D4E2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520" y="2194499"/>
            <a:ext cx="3133725" cy="41495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20" name="Picture 19" descr="image.png">
            <a:extLst>
              <a:ext uri="{FF2B5EF4-FFF2-40B4-BE49-F238E27FC236}">
                <a16:creationId xmlns:a16="http://schemas.microsoft.com/office/drawing/2014/main" id="{ED618DCA-C66B-E66B-3619-88E0E224C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422" y="2194499"/>
            <a:ext cx="3133725" cy="41495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2A87CBDC-85CE-715B-0488-5841EF9BC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24" y="2194499"/>
            <a:ext cx="3133725" cy="414956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566737" y="1248390"/>
            <a:ext cx="8572500" cy="62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r>
              <a:rPr sz="1650" b="0" i="0" u="none" dirty="0">
                <a:solidFill>
                  <a:srgbClr val="475569"/>
                </a:solidFill>
                <a:latin typeface="Lato"/>
              </a:rPr>
              <a:t>Comparing </a:t>
            </a:r>
            <a:r>
              <a:rPr lang="en-US" sz="1650" b="0" i="0" u="none" dirty="0">
                <a:solidFill>
                  <a:srgbClr val="475569"/>
                </a:solidFill>
                <a:latin typeface="Lato"/>
              </a:rPr>
              <a:t>the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replication with the original 2007 paper reveals critical methodological insights regarding macroeconomic data revisions.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392983"/>
            <a:ext cx="2980372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>
                <a:solidFill>
                  <a:srgbClr val="1D4ED8"/>
                </a:solidFill>
                <a:latin typeface="Poppins SemiBold"/>
              </a:rPr>
              <a:t>Original Study (1993-94 Base)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412158"/>
            <a:ext cx="28384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Lato"/>
              </a:rPr>
              <a:t>Utilizing the older 1993-94 constant prices, the algorithm originally located the structural break in 1978-79.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3392983"/>
            <a:ext cx="2980372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>
                <a:solidFill>
                  <a:srgbClr val="1D4ED8"/>
                </a:solidFill>
                <a:latin typeface="Poppins SemiBold"/>
              </a:rPr>
              <a:t>Replication (2011-12 Base)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6775" y="4412158"/>
            <a:ext cx="2838450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Lato"/>
              </a:rPr>
              <a:t>Applying the algorithm on updated, modernized 2011-12 constant price series shifts the exact inflection point slightly to 1981.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3392983"/>
            <a:ext cx="2980372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>
                <a:solidFill>
                  <a:srgbClr val="1D4ED8"/>
                </a:solidFill>
                <a:latin typeface="Poppins SemiBold"/>
              </a:rPr>
              <a:t>Core Consensus Validated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6775" y="4412158"/>
            <a:ext cx="2838450" cy="1675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Lato"/>
              </a:rPr>
              <a:t>Despite the slight year shift, both datasets prove the transition initiated in the late-1970s/early-1980s, independent of 1991 reforms.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2716708"/>
            <a:ext cx="400050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6775" y="2716708"/>
            <a:ext cx="352425" cy="4000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775" y="2716708"/>
            <a:ext cx="352425" cy="4000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236636"/>
            <a:ext cx="116014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1E293B"/>
                </a:solidFill>
                <a:latin typeface="Poppins"/>
              </a:rPr>
              <a:t>The Data Vintage Effect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image.png">
            <a:extLst>
              <a:ext uri="{FF2B5EF4-FFF2-40B4-BE49-F238E27FC236}">
                <a16:creationId xmlns:a16="http://schemas.microsoft.com/office/drawing/2014/main" id="{3BEF5744-CB96-6A92-C9CB-8822CD04A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248" y="137298"/>
            <a:ext cx="6181880" cy="649947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200650" cy="619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>
                <a:solidFill>
                  <a:srgbClr val="1E293B"/>
                </a:solidFill>
                <a:latin typeface="Poppins"/>
              </a:rPr>
              <a:t>Conclusion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188" y="221226"/>
            <a:ext cx="6138940" cy="64155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843682"/>
            <a:ext cx="52006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50" b="0" i="0" u="none" dirty="0">
                <a:solidFill>
                  <a:srgbClr val="1D4ED8"/>
                </a:solidFill>
                <a:latin typeface="Poppins SemiBold"/>
              </a:rPr>
              <a:t>Services-Led Trajectory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24707"/>
            <a:ext cx="4953000" cy="9619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475569"/>
                </a:solidFill>
                <a:latin typeface="Lato"/>
              </a:rPr>
              <a:t>The empirical replication validates the central hypothesis: </a:t>
            </a:r>
            <a:r>
              <a:rPr sz="1650" b="1" i="0" u="none" dirty="0">
                <a:solidFill>
                  <a:srgbClr val="475569"/>
                </a:solidFill>
                <a:latin typeface="Lato"/>
              </a:rPr>
              <a:t>the acceleration of the Indian economy was definitively services-led.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3573065"/>
            <a:ext cx="4953000" cy="628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1650" dirty="0">
                <a:solidFill>
                  <a:srgbClr val="475569"/>
                </a:solidFill>
                <a:latin typeface="Lato"/>
              </a:rPr>
              <a:t>T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he </a:t>
            </a:r>
            <a:r>
              <a:rPr sz="1650" b="1" i="0" u="none" dirty="0">
                <a:solidFill>
                  <a:srgbClr val="475569"/>
                </a:solidFill>
                <a:latin typeface="Lato"/>
              </a:rPr>
              <a:t>regime shift in 1981</a:t>
            </a:r>
            <a:r>
              <a:rPr sz="1650" b="0" i="0" u="none" dirty="0">
                <a:solidFill>
                  <a:srgbClr val="475569"/>
                </a:solidFill>
                <a:latin typeface="Lato"/>
              </a:rPr>
              <a:t> confirms the transition occurred a full decade prior to the 1991 liberalization.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21423"/>
            <a:ext cx="495300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475569"/>
                </a:solidFill>
                <a:latin typeface="Lato"/>
              </a:rPr>
              <a:t>Both shift-share decomposition (84.09% contribution) and OLS regressions mathematically prove that acknowledging the 1980s services boom is a prerequisite to understanding India's trajectory.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47787" y="2756594"/>
            <a:ext cx="9496425" cy="784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640"/>
              </a:lnSpc>
            </a:pPr>
            <a:endParaRPr sz="1650">
              <a:solidFill>
                <a:srgbClr val="475569"/>
              </a:solidFill>
              <a:latin typeface="Lato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1500" y="571500"/>
            <a:ext cx="1160145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u="none" dirty="0">
                <a:solidFill>
                  <a:srgbClr val="1E293B"/>
                </a:solidFill>
                <a:latin typeface="Poppins"/>
              </a:rPr>
              <a:t>Sources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5F9282-2308-1848-F036-2B928AB9F61D}"/>
              </a:ext>
            </a:extLst>
          </p:cNvPr>
          <p:cNvSpPr txBox="1"/>
          <p:nvPr/>
        </p:nvSpPr>
        <p:spPr>
          <a:xfrm>
            <a:off x="571499" y="2811689"/>
            <a:ext cx="11010901" cy="1628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lnSpc>
                <a:spcPts val="2640"/>
              </a:lnSpc>
              <a:defRPr sz="1650" b="0" i="0" u="none">
                <a:solidFill>
                  <a:srgbClr val="475569"/>
                </a:solidFill>
                <a:latin typeface="Lato"/>
              </a:defRPr>
            </a:lvl1pPr>
          </a:lstStyle>
          <a:p>
            <a:r>
              <a:rPr lang="en-IN" b="1" dirty="0"/>
              <a:t>Core Paper</a:t>
            </a:r>
            <a:r>
              <a:rPr lang="en-IN" dirty="0"/>
              <a:t>: </a:t>
            </a:r>
            <a:r>
              <a:rPr lang="en-IN" dirty="0">
                <a:hlinkClick r:id="rId2"/>
              </a:rPr>
              <a:t>Understanding economic growth in </a:t>
            </a:r>
            <a:r>
              <a:rPr lang="en-IN" dirty="0" err="1">
                <a:hlinkClick r:id="rId2"/>
              </a:rPr>
              <a:t>India_A</a:t>
            </a:r>
            <a:r>
              <a:rPr lang="en-IN" dirty="0">
                <a:hlinkClick r:id="rId2"/>
              </a:rPr>
              <a:t> prerequisite_Economic.pdf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Dataset used</a:t>
            </a:r>
            <a:r>
              <a:rPr lang="en-IN" dirty="0"/>
              <a:t>: </a:t>
            </a:r>
            <a:r>
              <a:rPr lang="en-IN" dirty="0">
                <a:hlinkClick r:id="rId3"/>
              </a:rPr>
              <a:t>STATEMENT 3.2  GROSS VALUE ADDED BY ECONOMIC ACTIVITY (CONSTANT (2011-12) PRICES)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Python notebook</a:t>
            </a:r>
            <a:r>
              <a:rPr lang="en-IN" dirty="0"/>
              <a:t>: </a:t>
            </a:r>
            <a:r>
              <a:rPr lang="en-IN" dirty="0">
                <a:hlinkClick r:id="rId4" action="ppaction://hlinkfile"/>
              </a:rPr>
              <a:t>Indian_Eco_Paper_Replication.ipynb</a:t>
            </a:r>
            <a:r>
              <a:rPr lang="en-IN" dirty="0"/>
              <a:t>; </a:t>
            </a:r>
            <a:r>
              <a:rPr lang="en-IN" dirty="0">
                <a:hlinkClick r:id="rId5"/>
              </a:rPr>
              <a:t>Google Colab Notebook</a:t>
            </a:r>
            <a:endParaRPr lang="en-IN" dirty="0"/>
          </a:p>
        </p:txBody>
      </p:sp>
      <p:pic>
        <p:nvPicPr>
          <p:cNvPr id="22" name="Picture 21" descr="image.png">
            <a:extLst>
              <a:ext uri="{FF2B5EF4-FFF2-40B4-BE49-F238E27FC236}">
                <a16:creationId xmlns:a16="http://schemas.microsoft.com/office/drawing/2014/main" id="{0856744C-252E-1ED6-1E39-DEE9C7B616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593" y="2899339"/>
            <a:ext cx="95250" cy="152400"/>
          </a:xfrm>
          <a:prstGeom prst="rect">
            <a:avLst/>
          </a:prstGeom>
        </p:spPr>
      </p:pic>
      <p:pic>
        <p:nvPicPr>
          <p:cNvPr id="23" name="Picture 22" descr="image.png">
            <a:extLst>
              <a:ext uri="{FF2B5EF4-FFF2-40B4-BE49-F238E27FC236}">
                <a16:creationId xmlns:a16="http://schemas.microsoft.com/office/drawing/2014/main" id="{05A8BDC7-0247-BEA3-83FB-327D23DF48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679" y="4244127"/>
            <a:ext cx="95250" cy="152400"/>
          </a:xfrm>
          <a:prstGeom prst="rect">
            <a:avLst/>
          </a:prstGeom>
        </p:spPr>
      </p:pic>
      <p:pic>
        <p:nvPicPr>
          <p:cNvPr id="24" name="Picture 23" descr="image.png">
            <a:extLst>
              <a:ext uri="{FF2B5EF4-FFF2-40B4-BE49-F238E27FC236}">
                <a16:creationId xmlns:a16="http://schemas.microsoft.com/office/drawing/2014/main" id="{4560B499-08B0-04E4-49E3-591C3A5E1D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679" y="3553297"/>
            <a:ext cx="95250" cy="152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3BBE62-A0C1-A9AC-C21A-84545734133D}"/>
              </a:ext>
            </a:extLst>
          </p:cNvPr>
          <p:cNvSpPr txBox="1"/>
          <p:nvPr/>
        </p:nvSpPr>
        <p:spPr>
          <a:xfrm>
            <a:off x="2996457" y="2154292"/>
            <a:ext cx="6199086" cy="2549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750"/>
              </a:lnSpc>
            </a:pPr>
            <a:r>
              <a:rPr lang="en-US" sz="9750" b="1" i="0" u="none" dirty="0">
                <a:solidFill>
                  <a:srgbClr val="0056B3"/>
                </a:solidFill>
                <a:latin typeface="Poppins"/>
              </a:rPr>
              <a:t>THANK YOU</a:t>
            </a:r>
            <a:endParaRPr sz="9750" b="1" i="0" u="none" dirty="0">
              <a:solidFill>
                <a:srgbClr val="0056B3"/>
              </a:solidFill>
              <a:latin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777146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847</Words>
  <Application>Microsoft Office PowerPoint</Application>
  <PresentationFormat>Widescreen</PresentationFormat>
  <Paragraphs>72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 Math</vt:lpstr>
      <vt:lpstr>Lato</vt:lpstr>
      <vt:lpstr>Lato Light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Udayan Maiti</cp:lastModifiedBy>
  <cp:revision>4</cp:revision>
  <dcterms:created xsi:type="dcterms:W3CDTF">2013-01-27T09:14:16Z</dcterms:created>
  <dcterms:modified xsi:type="dcterms:W3CDTF">2026-09-09T13:56:34Z</dcterms:modified>
  <cp:category/>
</cp:coreProperties>
</file>